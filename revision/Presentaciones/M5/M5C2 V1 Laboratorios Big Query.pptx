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13716000" cx="2438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Helvetica Neue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GWkz1dBQuIXL91ye7Gb2/VveQ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3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5.xml"/><Relationship Id="rId44" Type="http://schemas.openxmlformats.org/officeDocument/2006/relationships/font" Target="fonts/HelveticaNeue-bold.fntdata"/><Relationship Id="rId21" Type="http://schemas.openxmlformats.org/officeDocument/2006/relationships/slide" Target="slides/slide14.xml"/><Relationship Id="rId43" Type="http://schemas.openxmlformats.org/officeDocument/2006/relationships/font" Target="fonts/HelveticaNeue-regular.fntdata"/><Relationship Id="rId24" Type="http://schemas.openxmlformats.org/officeDocument/2006/relationships/slide" Target="slides/slide17.xml"/><Relationship Id="rId46" Type="http://schemas.openxmlformats.org/officeDocument/2006/relationships/font" Target="fonts/HelveticaNeue-boldItalic.fntdata"/><Relationship Id="rId23" Type="http://schemas.openxmlformats.org/officeDocument/2006/relationships/slide" Target="slides/slide16.xml"/><Relationship Id="rId45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customschemas.google.com/relationships/presentationmetadata" Target="meta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-italic.fntdata"/><Relationship Id="rId14" Type="http://schemas.openxmlformats.org/officeDocument/2006/relationships/slide" Target="slides/slide7.xml"/><Relationship Id="rId36" Type="http://schemas.openxmlformats.org/officeDocument/2006/relationships/font" Target="fonts/Roboto-bold.fntdata"/><Relationship Id="rId17" Type="http://schemas.openxmlformats.org/officeDocument/2006/relationships/slide" Target="slides/slide10.xml"/><Relationship Id="rId39" Type="http://schemas.openxmlformats.org/officeDocument/2006/relationships/font" Target="fonts/Lato-regular.fntdata"/><Relationship Id="rId16" Type="http://schemas.openxmlformats.org/officeDocument/2006/relationships/slide" Target="slides/slide9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41710ae96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g3641710ae96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1710ae96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g3641710ae9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41710ae96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641710ae96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41710ae96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641710ae96_0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41710ae96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g3641710ae96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41710ae96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g3641710ae96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41710ae96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641710ae96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1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22" name="Google Shape;22;p4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/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" type="body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" type="body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2" type="body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6"/>
          <p:cNvSpPr txBox="1"/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" type="body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1" name="Google Shape;41;p46"/>
          <p:cNvSpPr txBox="1"/>
          <p:nvPr>
            <p:ph idx="2" type="body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3" type="body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3" name="Google Shape;43;p46"/>
          <p:cNvSpPr txBox="1"/>
          <p:nvPr>
            <p:ph idx="4" type="body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" type="body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59" name="Google Shape;59;p49"/>
          <p:cNvSpPr txBox="1"/>
          <p:nvPr>
            <p:ph idx="2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60" name="Google Shape;60;p4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0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0"/>
          <p:cNvSpPr/>
          <p:nvPr>
            <p:ph idx="2" type="pic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50"/>
          <p:cNvSpPr txBox="1"/>
          <p:nvPr>
            <p:ph idx="1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67" name="Google Shape;67;p5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1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" type="body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2"/>
          <p:cNvSpPr txBox="1"/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" type="body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4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4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99" name="Google Shape;99;p6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0" name="Google Shape;100;p6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1" name="Google Shape;101;p6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5"/>
          <p:cNvSpPr txBox="1"/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5"/>
          <p:cNvSpPr txBox="1"/>
          <p:nvPr>
            <p:ph idx="1" type="body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6" name="Google Shape;106;p6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7" name="Google Shape;107;p65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6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6"/>
          <p:cNvSpPr txBox="1"/>
          <p:nvPr>
            <p:ph idx="1" type="body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66"/>
          <p:cNvSpPr txBox="1"/>
          <p:nvPr>
            <p:ph idx="2" type="body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6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3" name="Google Shape;113;p6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4" name="Google Shape;114;p6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7"/>
          <p:cNvSpPr txBox="1"/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7"/>
          <p:cNvSpPr txBox="1"/>
          <p:nvPr>
            <p:ph idx="1" type="body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18" name="Google Shape;118;p67"/>
          <p:cNvSpPr txBox="1"/>
          <p:nvPr>
            <p:ph idx="2" type="body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67"/>
          <p:cNvSpPr txBox="1"/>
          <p:nvPr>
            <p:ph idx="3" type="body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20" name="Google Shape;120;p67"/>
          <p:cNvSpPr txBox="1"/>
          <p:nvPr>
            <p:ph idx="4" type="body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6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2" name="Google Shape;122;p6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3" name="Google Shape;123;p6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8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7" name="Google Shape;127;p6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8" name="Google Shape;128;p6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1" name="Google Shape;131;p6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2" name="Google Shape;132;p6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0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0"/>
          <p:cNvSpPr txBox="1"/>
          <p:nvPr>
            <p:ph idx="1" type="body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136" name="Google Shape;136;p70"/>
          <p:cNvSpPr txBox="1"/>
          <p:nvPr>
            <p:ph idx="2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37" name="Google Shape;137;p7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8" name="Google Shape;138;p7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9" name="Google Shape;139;p7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1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1"/>
          <p:cNvSpPr/>
          <p:nvPr>
            <p:ph idx="2" type="pic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71"/>
          <p:cNvSpPr txBox="1"/>
          <p:nvPr>
            <p:ph idx="1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44" name="Google Shape;144;p7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5" name="Google Shape;145;p7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6" name="Google Shape;146;p7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2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2"/>
          <p:cNvSpPr txBox="1"/>
          <p:nvPr>
            <p:ph idx="1" type="body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7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1" name="Google Shape;151;p7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2" name="Google Shape;152;p7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3"/>
          <p:cNvSpPr txBox="1"/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3"/>
          <p:cNvSpPr txBox="1"/>
          <p:nvPr>
            <p:ph idx="1" type="body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73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7" name="Google Shape;157;p73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8" name="Google Shape;158;p7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43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168" name="Google Shape;168;p43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3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3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3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53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3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4"/>
          <p:cNvSpPr txBox="1"/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54"/>
          <p:cNvSpPr txBox="1"/>
          <p:nvPr>
            <p:ph idx="1" type="body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0" name="Google Shape;180;p5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5"/>
          <p:cNvSpPr txBox="1"/>
          <p:nvPr>
            <p:ph idx="1" type="body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55"/>
          <p:cNvSpPr txBox="1"/>
          <p:nvPr>
            <p:ph idx="2" type="body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5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55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6"/>
          <p:cNvSpPr txBox="1"/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56"/>
          <p:cNvSpPr txBox="1"/>
          <p:nvPr>
            <p:ph idx="1" type="body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93" name="Google Shape;193;p56"/>
          <p:cNvSpPr txBox="1"/>
          <p:nvPr>
            <p:ph idx="2" type="body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56"/>
          <p:cNvSpPr txBox="1"/>
          <p:nvPr>
            <p:ph idx="3" type="body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95" name="Google Shape;195;p56"/>
          <p:cNvSpPr txBox="1"/>
          <p:nvPr>
            <p:ph idx="4" type="body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5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7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9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9"/>
          <p:cNvSpPr txBox="1"/>
          <p:nvPr>
            <p:ph idx="1" type="body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211" name="Google Shape;211;p59"/>
          <p:cNvSpPr txBox="1"/>
          <p:nvPr>
            <p:ph idx="2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12" name="Google Shape;212;p5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0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60"/>
          <p:cNvSpPr/>
          <p:nvPr>
            <p:ph idx="2" type="pic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60"/>
          <p:cNvSpPr txBox="1"/>
          <p:nvPr>
            <p:ph idx="1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19" name="Google Shape;219;p6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6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6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1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61"/>
          <p:cNvSpPr txBox="1"/>
          <p:nvPr>
            <p:ph idx="1" type="body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6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6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2"/>
          <p:cNvSpPr txBox="1"/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2"/>
          <p:cNvSpPr txBox="1"/>
          <p:nvPr>
            <p:ph idx="1" type="body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6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6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39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42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4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4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4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hyperlink" Target="https://nam10.safelinks.protection.outlook.com/?url=https%3A%2F%2Fwww.skills.google%2Fcourse_templates%2F1157%3Flocale%3Den&amp;data=05%7C02%7Cae.orozco10%40uniandes.edu.co%7C43ffc20d9a304153994b08ddd8ed0ace%7Cfabd047cff48492a8bbb8f98b9fb9cca%7C0%7C0%7C638905235336974765%7CUnknown%7CTWFpbGZsb3d8eyJFbXB0eU1hcGkiOnRydWUsIlYiOiIwLjAuMDAwMCIsIlAiOiJXaW4zMiIsIkFOIjoiTWFpbCIsIldUIjoyfQ%3D%3D%7C0%7C%7C%7C&amp;sdata=cef6jH9TQf6MR%2BYtIQEr5iO%2Fufhy7iwqQcMunDwB1oQ%3D&amp;reserved=0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hyperlink" Target="https://nam10.safelinks.protection.outlook.com/?url=https%3A%2F%2Fwww.skills.google%2Fpaths%2F420%3Flocale%3Den&amp;data=05%7C02%7Cae.orozco10%40uniandes.edu.co%7C43ffc20d9a304153994b08ddd8ed0ace%7Cfabd047cff48492a8bbb8f98b9fb9cca%7C0%7C0%7C638905235336831847%7CUnknown%7CTWFpbGZsb3d8eyJFbXB0eU1hcGkiOnRydWUsIlYiOiIwLjAuMDAwMCIsIlAiOiJXaW4zMiIsIkFOIjoiTWFpbCIsIldUIjoyfQ%3D%3D%7C0%7C%7C%7C&amp;sdata=1SbQuFhO3buHa8xq8inTuHVncbK53Hd8HLrLPSCaMyE%3D&amp;reserved=0" TargetMode="External"/><Relationship Id="rId9" Type="http://schemas.openxmlformats.org/officeDocument/2006/relationships/hyperlink" Target="https://nam10.safelinks.protection.outlook.com/?url=https%3A%2F%2Fwww.skills.google%2Fcourse_templates%2F1157%3Flocale%3Den&amp;data=05%7C02%7Cae.orozco10%40uniandes.edu.co%7C43ffc20d9a304153994b08ddd8ed0ace%7Cfabd047cff48492a8bbb8f98b9fb9cca%7C0%7C0%7C638905235336974765%7CUnknown%7CTWFpbGZsb3d8eyJFbXB0eU1hcGkiOnRydWUsIlYiOiIwLjAuMDAwMCIsIlAiOiJXaW4zMiIsIkFOIjoiTWFpbCIsIldUIjoyfQ%3D%3D%7C0%7C%7C%7C&amp;sdata=cef6jH9TQf6MR%2BYtIQEr5iO%2Fufhy7iwqQcMunDwB1oQ%3D&amp;reserved=0" TargetMode="External"/><Relationship Id="rId5" Type="http://schemas.openxmlformats.org/officeDocument/2006/relationships/hyperlink" Target="https://nam10.safelinks.protection.outlook.com/?url=https%3A%2F%2Fwww.skills.google%2Fpaths%2F1336%3Flocale%3Den&amp;data=05%7C02%7Cae.orozco10%40uniandes.edu.co%7C43ffc20d9a304153994b08ddd8ed0ace%7Cfabd047cff48492a8bbb8f98b9fb9cca%7C0%7C0%7C638905235336874111%7CUnknown%7CTWFpbGZsb3d8eyJFbXB0eU1hcGkiOnRydWUsIlYiOiIwLjAuMDAwMCIsIlAiOiJXaW4zMiIsIkFOIjoiTWFpbCIsIldUIjoyfQ%3D%3D%7C0%7C%7C%7C&amp;sdata=njQKkG4Vl8muw%2BYMEB%2FWXiSeyNvnUkmiBs5VdbweyC8%3D&amp;reserved=0" TargetMode="External"/><Relationship Id="rId6" Type="http://schemas.openxmlformats.org/officeDocument/2006/relationships/hyperlink" Target="https://nam10.safelinks.protection.outlook.com/?url=https%3A%2F%2Fwww.skills.google%2Fcourse_templates%2F1157%3Flocale%3Den&amp;data=05%7C02%7Cae.orozco10%40uniandes.edu.co%7C43ffc20d9a304153994b08ddd8ed0ace%7Cfabd047cff48492a8bbb8f98b9fb9cca%7C0%7C0%7C638905235336900258%7CUnknown%7CTWFpbGZsb3d8eyJFbXB0eU1hcGkiOnRydWUsIlYiOiIwLjAuMDAwMCIsIlAiOiJXaW4zMiIsIkFOIjoiTWFpbCIsIldUIjoyfQ%3D%3D%7C0%7C%7C%7C&amp;sdata=gCe81pa4EMqHnjH9WtIaCLxOIa7x8G%2Fz1lmsGbEUP4E%3D&amp;reserved=0" TargetMode="External"/><Relationship Id="rId7" Type="http://schemas.openxmlformats.org/officeDocument/2006/relationships/hyperlink" Target="https://nam10.safelinks.protection.outlook.com/?url=https%3A%2F%2Fcloud.google.com%2Flearn%2Fcertification%2Fdata-practitioner%3Fhl%3Des-419&amp;data=05%7C02%7Cae.orozco10%40uniandes.edu.co%7C43ffc20d9a304153994b08ddd8ed0ace%7Cfabd047cff48492a8bbb8f98b9fb9cca%7C0%7C0%7C638905235336925878%7CUnknown%7CTWFpbGZsb3d8eyJFbXB0eU1hcGkiOnRydWUsIlYiOiIwLjAuMDAwMCIsIlAiOiJXaW4zMiIsIkFOIjoiTWFpbCIsIldUIjoyfQ%3D%3D%7C0%7C%7C%7C&amp;sdata=X18r2Ac3Q9Bb8h3sefeashe70Vv6m%2BYL3ZIHhsHbkSs%3D&amp;reserved=0" TargetMode="External"/><Relationship Id="rId8" Type="http://schemas.openxmlformats.org/officeDocument/2006/relationships/hyperlink" Target="https://nam10.safelinks.protection.outlook.com/?url=https%3A%2F%2Fwww.skills.google%2Fpaths%2F420%3Flocale%3Den&amp;data=05%7C02%7Cae.orozco10%40uniandes.edu.co%7C43ffc20d9a304153994b08ddd8ed0ace%7Cfabd047cff48492a8bbb8f98b9fb9cca%7C0%7C0%7C638905235336950088%7CUnknown%7CTWFpbGZsb3d8eyJFbXB0eU1hcGkiOnRydWUsIlYiOiIwLjAuMDAwMCIsIlAiOiJXaW4zMiIsIkFOIjoiTWFpbCIsIldUIjoyfQ%3D%3D%7C0%7C%7C%7C&amp;sdata=KJ%2B4CztCmYc6X8e0GZibnfmz3tzTwoPPcglseNZdjzE%3D&amp;reserved=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"/>
          <p:cNvSpPr/>
          <p:nvPr/>
        </p:nvSpPr>
        <p:spPr>
          <a:xfrm>
            <a:off x="0" y="9462052"/>
            <a:ext cx="16967199" cy="3697357"/>
          </a:xfrm>
          <a:prstGeom prst="rect">
            <a:avLst/>
          </a:prstGeom>
          <a:gradFill>
            <a:gsLst>
              <a:gs pos="0">
                <a:srgbClr val="000000">
                  <a:alpha val="48627"/>
                </a:srgbClr>
              </a:gs>
              <a:gs pos="61000">
                <a:srgbClr val="000000">
                  <a:alpha val="28627"/>
                </a:srgbClr>
              </a:gs>
              <a:gs pos="100000">
                <a:srgbClr val="FFFFFF">
                  <a:alpha val="17647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"/>
          <p:cNvSpPr txBox="1"/>
          <p:nvPr/>
        </p:nvSpPr>
        <p:spPr>
          <a:xfrm>
            <a:off x="411742" y="9796002"/>
            <a:ext cx="1126342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ato"/>
              <a:buNone/>
            </a:pPr>
            <a:r>
              <a:rPr b="0" i="0" lang="es-CO" sz="7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Diseño y Gestión de Bases de Datos con SQL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"/>
          <p:cNvSpPr txBox="1"/>
          <p:nvPr/>
        </p:nvSpPr>
        <p:spPr>
          <a:xfrm>
            <a:off x="411753" y="12104325"/>
            <a:ext cx="1544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</a:pPr>
            <a:r>
              <a:rPr lang="es-CO"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 txBox="1"/>
          <p:nvPr/>
        </p:nvSpPr>
        <p:spPr>
          <a:xfrm>
            <a:off x="4285669" y="2857470"/>
            <a:ext cx="9387826" cy="1026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2"/>
          <p:cNvCxnSpPr/>
          <p:nvPr/>
        </p:nvCxnSpPr>
        <p:spPr>
          <a:xfrm>
            <a:off x="3719631" y="4227369"/>
            <a:ext cx="0" cy="3640724"/>
          </a:xfrm>
          <a:prstGeom prst="straightConnector1">
            <a:avLst/>
          </a:prstGeom>
          <a:noFill/>
          <a:ln cap="flat" cmpd="sng" w="825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"/>
          <p:cNvSpPr/>
          <p:nvPr/>
        </p:nvSpPr>
        <p:spPr>
          <a:xfrm>
            <a:off x="3440079" y="4898491"/>
            <a:ext cx="503867" cy="501578"/>
          </a:xfrm>
          <a:prstGeom prst="ellipse">
            <a:avLst/>
          </a:prstGeom>
          <a:solidFill>
            <a:srgbClr val="FED200"/>
          </a:solidFill>
          <a:ln cap="flat" cmpd="sng" w="12700">
            <a:solidFill>
              <a:srgbClr val="FED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"/>
          <p:cNvSpPr txBox="1"/>
          <p:nvPr/>
        </p:nvSpPr>
        <p:spPr>
          <a:xfrm>
            <a:off x="4257095" y="4743343"/>
            <a:ext cx="112913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</a:pPr>
            <a:r>
              <a:rPr lang="es-CO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Aclaración de las rutas de certificado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"/>
          <p:cNvSpPr txBox="1"/>
          <p:nvPr/>
        </p:nvSpPr>
        <p:spPr>
          <a:xfrm>
            <a:off x="4285669" y="6076105"/>
            <a:ext cx="1126281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-CO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Lab Big Query</a:t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3412462" y="6234896"/>
            <a:ext cx="503867" cy="501578"/>
          </a:xfrm>
          <a:prstGeom prst="ellipse">
            <a:avLst/>
          </a:prstGeom>
          <a:solidFill>
            <a:srgbClr val="FED200"/>
          </a:solidFill>
          <a:ln cap="flat" cmpd="sng" w="12700">
            <a:solidFill>
              <a:srgbClr val="FED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"/>
          <p:cNvSpPr txBox="1"/>
          <p:nvPr/>
        </p:nvSpPr>
        <p:spPr>
          <a:xfrm>
            <a:off x="4269628" y="7359472"/>
            <a:ext cx="1305584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-CO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Lab 2 partición y clustering</a:t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"/>
          <p:cNvSpPr/>
          <p:nvPr/>
        </p:nvSpPr>
        <p:spPr>
          <a:xfrm>
            <a:off x="3444547" y="7542326"/>
            <a:ext cx="503867" cy="501578"/>
          </a:xfrm>
          <a:prstGeom prst="ellipse">
            <a:avLst/>
          </a:prstGeom>
          <a:solidFill>
            <a:srgbClr val="FED200"/>
          </a:solidFill>
          <a:ln cap="flat" cmpd="sng" w="12700">
            <a:solidFill>
              <a:srgbClr val="FED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"/>
          <p:cNvSpPr txBox="1"/>
          <p:nvPr/>
        </p:nvSpPr>
        <p:spPr>
          <a:xfrm>
            <a:off x="12588240" y="2513782"/>
            <a:ext cx="104994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Roboto"/>
              <a:buNone/>
            </a:pPr>
            <a:r>
              <a:rPr lang="es-CO" sz="8800">
                <a:latin typeface="Roboto"/>
                <a:ea typeface="Roboto"/>
                <a:cs typeface="Roboto"/>
                <a:sym typeface="Roboto"/>
              </a:rPr>
              <a:t>Rutas</a:t>
            </a:r>
            <a:endParaRPr b="0" i="0" sz="8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"/>
          <p:cNvSpPr txBox="1"/>
          <p:nvPr/>
        </p:nvSpPr>
        <p:spPr>
          <a:xfrm>
            <a:off x="12588240" y="4364693"/>
            <a:ext cx="10499272" cy="3864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800">
                <a:latin typeface="Lato"/>
                <a:ea typeface="Lato"/>
                <a:cs typeface="Lato"/>
                <a:sym typeface="Lato"/>
              </a:rPr>
              <a:t>Certificado opcional</a:t>
            </a:r>
            <a:endParaRPr b="0" i="0" sz="4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type="title"/>
          </p:nvPr>
        </p:nvSpPr>
        <p:spPr>
          <a:xfrm>
            <a:off x="3168502" y="730251"/>
            <a:ext cx="18011554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es-CO">
                <a:latin typeface="Roboto"/>
                <a:ea typeface="Roboto"/>
                <a:cs typeface="Roboto"/>
                <a:sym typeface="Roboto"/>
              </a:rPr>
              <a:t>Aclaración de certificado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295275" y="13144500"/>
            <a:ext cx="2379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© Diseño y Gestión de Bases de Datos con SQL  | Universidad de los Andes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8735775" y="3310850"/>
            <a:ext cx="12892500" cy="78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63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3700"/>
              <a:buFont typeface="Lato"/>
              <a:buChar char="●"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ruta es: 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4"/>
              </a:rPr>
              <a:t>Beginner: Google Cloud Data Analytics Certificate</a:t>
            </a:r>
            <a:endParaRPr sz="3700" u="sng">
              <a:solidFill>
                <a:schemeClr val="hlink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00"/>
              <a:buChar char="●"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ruta ADP Exam Prep es para los estudiantes que quieran </a:t>
            </a:r>
            <a:r>
              <a:rPr b="1"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 forma opcional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prepararse para la certificación de: 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5"/>
              </a:rPr>
              <a:t>Associate Data Practitioner Learning Path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(Sólo es necesario el primer curso 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6"/>
              </a:rPr>
              <a:t>Introduction to Data Engineering on Google Cloud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00"/>
              <a:buFont typeface="Lato"/>
              <a:buChar char="●"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certificación: 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7"/>
              </a:rPr>
              <a:t>Associate Data Practitioner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3700"/>
              <a:buFont typeface="Lato"/>
              <a:buChar char="●"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aplicar al voucher de descuento del 50% para estudiante debe completar toda la ruta de 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8"/>
              </a:rPr>
              <a:t>Beginner: Google Cloud Data Analytics Certificate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9"/>
              </a:rPr>
              <a:t>Introduction to Data Engineering on Google Clou</a:t>
            </a:r>
            <a:r>
              <a:rPr lang="es-CO" sz="3700" u="sng">
                <a:solidFill>
                  <a:schemeClr val="hlink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10"/>
              </a:rPr>
              <a:t>d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</a:t>
            </a:r>
            <a:endParaRPr sz="6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8" name="Google Shape;268;p18" title="certificad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5950" y="4805602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>
            <p:ph type="title"/>
          </p:nvPr>
        </p:nvSpPr>
        <p:spPr>
          <a:xfrm>
            <a:off x="3317359" y="730251"/>
            <a:ext cx="19156326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Lato"/>
              <a:buNone/>
            </a:pPr>
            <a:r>
              <a:rPr lang="es-CO">
                <a:latin typeface="Lato"/>
                <a:ea typeface="Lato"/>
                <a:cs typeface="Lato"/>
                <a:sym typeface="Lato"/>
              </a:rPr>
              <a:t>La ruta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4550735" y="12248707"/>
            <a:ext cx="1624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Buscamos la ruta </a:t>
            </a:r>
            <a:r>
              <a:rPr b="1" i="0" lang="es-CO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Principiante: Certificado de Google Data Analytics</a:t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5" name="Google Shape;2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838" y="3379349"/>
            <a:ext cx="15806324" cy="695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113" y="431925"/>
            <a:ext cx="23809776" cy="111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>
            <p:ph idx="1" type="body"/>
          </p:nvPr>
        </p:nvSpPr>
        <p:spPr>
          <a:xfrm>
            <a:off x="1676400" y="11546958"/>
            <a:ext cx="21031200" cy="80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rPr lang="es-CO"/>
              <a:t>https://www.skills.google/paths/420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2656100" y="10590713"/>
            <a:ext cx="4848300" cy="1127100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3323100" y="13108775"/>
            <a:ext cx="1114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 txBox="1"/>
          <p:nvPr/>
        </p:nvSpPr>
        <p:spPr>
          <a:xfrm>
            <a:off x="12588240" y="2513782"/>
            <a:ext cx="1049927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Roboto"/>
              <a:buNone/>
            </a:pPr>
            <a:r>
              <a:rPr b="0" i="0" lang="es-CO" sz="8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Laboratorios</a:t>
            </a:r>
            <a:endParaRPr b="0" i="0" sz="8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12588240" y="4364693"/>
            <a:ext cx="10499272" cy="3864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800">
                <a:latin typeface="Lato"/>
                <a:ea typeface="Lato"/>
                <a:cs typeface="Lato"/>
                <a:sym typeface="Lato"/>
              </a:rPr>
              <a:t>Big Query</a:t>
            </a:r>
            <a:endParaRPr b="0" i="0" sz="4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9350" y="3112325"/>
            <a:ext cx="12896850" cy="60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>
            <p:ph idx="1" type="body"/>
          </p:nvPr>
        </p:nvSpPr>
        <p:spPr>
          <a:xfrm>
            <a:off x="10203775" y="10042072"/>
            <a:ext cx="12896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https://www.cloudskillsboost.google/paths/420/course_templates/1295/labs/562865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41710ae96_0_31"/>
          <p:cNvSpPr txBox="1"/>
          <p:nvPr>
            <p:ph type="title"/>
          </p:nvPr>
        </p:nvSpPr>
        <p:spPr>
          <a:xfrm>
            <a:off x="3168502" y="730251"/>
            <a:ext cx="180117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es-CO">
                <a:latin typeface="Roboto"/>
                <a:ea typeface="Roboto"/>
                <a:cs typeface="Roboto"/>
                <a:sym typeface="Roboto"/>
              </a:rPr>
              <a:t>Partición y Clusterización de tablas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g3641710ae96_0_31"/>
          <p:cNvSpPr txBox="1"/>
          <p:nvPr/>
        </p:nvSpPr>
        <p:spPr>
          <a:xfrm>
            <a:off x="295275" y="13144500"/>
            <a:ext cx="237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© Diseño y Gestión de Bases de Datos con SQL  | Universidad de los Andes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641710ae96_0_31"/>
          <p:cNvSpPr txBox="1"/>
          <p:nvPr/>
        </p:nvSpPr>
        <p:spPr>
          <a:xfrm>
            <a:off x="2964650" y="3310850"/>
            <a:ext cx="18663600" cy="4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nube nos cobran por el procesamiento de nuestras consultas.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yo repito un proceso diariamente, o dos veces al día, es importante que las consultas sean eficientes o se me multiplican los costos.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Digamos que quiero seleccionar todos los registros de mascotas del 12 de julio: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5" name="Google Shape;305;g3641710ae96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1425" y="8227675"/>
            <a:ext cx="7243535" cy="44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641710ae96_0_31"/>
          <p:cNvSpPr/>
          <p:nvPr/>
        </p:nvSpPr>
        <p:spPr>
          <a:xfrm>
            <a:off x="12001500" y="8751100"/>
            <a:ext cx="6036600" cy="25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¡Tengo que consultar </a:t>
            </a:r>
            <a:r>
              <a:rPr b="1" lang="es-CO" sz="4100">
                <a:latin typeface="Calibri"/>
                <a:ea typeface="Calibri"/>
                <a:cs typeface="Calibri"/>
                <a:sym typeface="Calibri"/>
              </a:rPr>
              <a:t>9 filas</a:t>
            </a: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!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41710ae96_0_40"/>
          <p:cNvSpPr txBox="1"/>
          <p:nvPr>
            <p:ph type="title"/>
          </p:nvPr>
        </p:nvSpPr>
        <p:spPr>
          <a:xfrm>
            <a:off x="3168502" y="730251"/>
            <a:ext cx="180117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es-CO">
                <a:latin typeface="Roboto"/>
                <a:ea typeface="Roboto"/>
                <a:cs typeface="Roboto"/>
                <a:sym typeface="Roboto"/>
              </a:rPr>
              <a:t>Partición y Clusterización de tablas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3641710ae96_0_40"/>
          <p:cNvSpPr txBox="1"/>
          <p:nvPr/>
        </p:nvSpPr>
        <p:spPr>
          <a:xfrm>
            <a:off x="295275" y="13144500"/>
            <a:ext cx="237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© Diseño y Gestión de Bases de Datos con SQL  | Universidad de los Andes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641710ae96_0_40"/>
          <p:cNvSpPr txBox="1"/>
          <p:nvPr/>
        </p:nvSpPr>
        <p:spPr>
          <a:xfrm>
            <a:off x="2964650" y="3310850"/>
            <a:ext cx="186636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trabajo sobre una tabla particionada, es como si </a:t>
            </a:r>
            <a:r>
              <a:rPr b="1"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internamente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BigQuery organizara los datos en grupos, de forma que al buscar por determinado valor, no tiene que revisar el resto de las filas.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g3641710ae96_0_40"/>
          <p:cNvSpPr/>
          <p:nvPr/>
        </p:nvSpPr>
        <p:spPr>
          <a:xfrm>
            <a:off x="12192000" y="7012825"/>
            <a:ext cx="6036600" cy="25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¡Sólo tuve que consultar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O" sz="4100">
                <a:latin typeface="Calibri"/>
                <a:ea typeface="Calibri"/>
                <a:cs typeface="Calibri"/>
                <a:sym typeface="Calibri"/>
              </a:rPr>
              <a:t>4 filas </a:t>
            </a: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para saber cuáles </a:t>
            </a: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corresponden</a:t>
            </a:r>
            <a:r>
              <a:rPr lang="es-CO" sz="3600">
                <a:latin typeface="Calibri"/>
                <a:ea typeface="Calibri"/>
                <a:cs typeface="Calibri"/>
                <a:sym typeface="Calibri"/>
              </a:rPr>
              <a:t> al 12 de julio!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g3641710ae96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625" y="6218929"/>
            <a:ext cx="6836871" cy="40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41710ae96_0_15"/>
          <p:cNvSpPr txBox="1"/>
          <p:nvPr/>
        </p:nvSpPr>
        <p:spPr>
          <a:xfrm>
            <a:off x="25655451" y="17112343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641710ae96_0_15"/>
          <p:cNvSpPr txBox="1"/>
          <p:nvPr/>
        </p:nvSpPr>
        <p:spPr>
          <a:xfrm>
            <a:off x="24453669" y="17843863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641710ae96_0_15"/>
          <p:cNvSpPr txBox="1"/>
          <p:nvPr>
            <p:ph idx="1" type="body"/>
          </p:nvPr>
        </p:nvSpPr>
        <p:spPr>
          <a:xfrm>
            <a:off x="10544300" y="8184697"/>
            <a:ext cx="12896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https://www.cloudskillsboost.google/paths/420/course_templates/1304/labs/562975</a:t>
            </a:r>
            <a:endParaRPr/>
          </a:p>
        </p:txBody>
      </p:sp>
      <p:pic>
        <p:nvPicPr>
          <p:cNvPr id="323" name="Google Shape;323;g3641710ae96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1363" y="1902625"/>
            <a:ext cx="13001625" cy="60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641710ae96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1625" y="10603672"/>
            <a:ext cx="5776900" cy="25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641710ae96_0_15"/>
          <p:cNvSpPr txBox="1"/>
          <p:nvPr/>
        </p:nvSpPr>
        <p:spPr>
          <a:xfrm>
            <a:off x="11191875" y="10889638"/>
            <a:ext cx="57768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Nota: la configuración de caché se encuentra en “More” &gt; Query settings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41710ae96_0_50"/>
          <p:cNvSpPr txBox="1"/>
          <p:nvPr>
            <p:ph type="title"/>
          </p:nvPr>
        </p:nvSpPr>
        <p:spPr>
          <a:xfrm>
            <a:off x="3168502" y="730251"/>
            <a:ext cx="180117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es-CO">
                <a:latin typeface="Roboto"/>
                <a:ea typeface="Roboto"/>
                <a:cs typeface="Roboto"/>
                <a:sym typeface="Roboto"/>
              </a:rPr>
              <a:t>Clusterización es similar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g3641710ae96_0_50"/>
          <p:cNvSpPr txBox="1"/>
          <p:nvPr/>
        </p:nvSpPr>
        <p:spPr>
          <a:xfrm>
            <a:off x="295275" y="13144500"/>
            <a:ext cx="237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© Diseño y Gestión de Bases de Datos con SQL  | Universidad de los Andes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641710ae96_0_50"/>
          <p:cNvSpPr txBox="1"/>
          <p:nvPr/>
        </p:nvSpPr>
        <p:spPr>
          <a:xfrm>
            <a:off x="2964650" y="3310850"/>
            <a:ext cx="186636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Pero en lugar de clusterizar por campos numéricos o de fecha (como en las particiones), se puede clusterizar por campos de texto: </a:t>
            </a:r>
            <a:r>
              <a:rPr b="1"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como si organizáramos internamente alfabéticamente 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nombre… funciona análogamente.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3" name="Google Shape;333;g3641710ae96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400" y="6399275"/>
            <a:ext cx="7848600" cy="46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41710ae96_0_60"/>
          <p:cNvSpPr txBox="1"/>
          <p:nvPr>
            <p:ph type="title"/>
          </p:nvPr>
        </p:nvSpPr>
        <p:spPr>
          <a:xfrm>
            <a:off x="3168502" y="730251"/>
            <a:ext cx="180117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es-CO">
                <a:latin typeface="Roboto"/>
                <a:ea typeface="Roboto"/>
                <a:cs typeface="Roboto"/>
                <a:sym typeface="Roboto"/>
              </a:rPr>
              <a:t>Sólo se puede particionar al crear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g3641710ae96_0_60"/>
          <p:cNvSpPr txBox="1"/>
          <p:nvPr/>
        </p:nvSpPr>
        <p:spPr>
          <a:xfrm>
            <a:off x="295275" y="13144500"/>
            <a:ext cx="237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© Diseño y Gestión de Bases de Datos con SQL  | Universidad de los Andes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641710ae96_0_60"/>
          <p:cNvSpPr txBox="1"/>
          <p:nvPr/>
        </p:nvSpPr>
        <p:spPr>
          <a:xfrm>
            <a:off x="2964650" y="3310850"/>
            <a:ext cx="18663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el momento de creación de la tabla, se agrega la configuración de partición. 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1" name="Google Shape;341;g3641710ae96_0_60" title="carbo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4482250"/>
            <a:ext cx="14325600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41710ae96_0_76"/>
          <p:cNvSpPr txBox="1"/>
          <p:nvPr>
            <p:ph type="title"/>
          </p:nvPr>
        </p:nvSpPr>
        <p:spPr>
          <a:xfrm>
            <a:off x="3168502" y="730251"/>
            <a:ext cx="180117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es-CO">
                <a:latin typeface="Roboto"/>
                <a:ea typeface="Roboto"/>
                <a:cs typeface="Roboto"/>
                <a:sym typeface="Roboto"/>
              </a:rPr>
              <a:t>Sólo se puede particionar al crear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g3641710ae96_0_76"/>
          <p:cNvSpPr txBox="1"/>
          <p:nvPr/>
        </p:nvSpPr>
        <p:spPr>
          <a:xfrm>
            <a:off x="295275" y="13144500"/>
            <a:ext cx="237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© Diseño y Gestión de Bases de Datos con SQL  | Universidad de los Andes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641710ae96_0_76"/>
          <p:cNvSpPr txBox="1"/>
          <p:nvPr/>
        </p:nvSpPr>
        <p:spPr>
          <a:xfrm>
            <a:off x="2964650" y="3310850"/>
            <a:ext cx="18663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el momento de creación de la tabla, tambi</a:t>
            </a:r>
            <a:r>
              <a:rPr lang="es-CO" sz="3700">
                <a:solidFill>
                  <a:srgbClr val="4444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én se puede especificar clusterización.</a:t>
            </a:r>
            <a:endParaRPr sz="3700">
              <a:solidFill>
                <a:srgbClr val="444444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9" name="Google Shape;349;g3641710ae96_0_76" title="carbon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75" y="4375100"/>
            <a:ext cx="14325600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41710ae96_0_6"/>
          <p:cNvSpPr txBox="1"/>
          <p:nvPr/>
        </p:nvSpPr>
        <p:spPr>
          <a:xfrm>
            <a:off x="25655451" y="17112343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641710ae96_0_6"/>
          <p:cNvSpPr txBox="1"/>
          <p:nvPr/>
        </p:nvSpPr>
        <p:spPr>
          <a:xfrm>
            <a:off x="24453669" y="17843863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641710ae96_0_6"/>
          <p:cNvSpPr txBox="1"/>
          <p:nvPr>
            <p:ph idx="1" type="body"/>
          </p:nvPr>
        </p:nvSpPr>
        <p:spPr>
          <a:xfrm>
            <a:off x="10203775" y="10042072"/>
            <a:ext cx="12896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https://www.cloudskillsboost.google/paths/420/course_templates/1298/labs/575654</a:t>
            </a:r>
            <a:endParaRPr/>
          </a:p>
        </p:txBody>
      </p:sp>
      <p:pic>
        <p:nvPicPr>
          <p:cNvPr id="357" name="Google Shape;357;g3641710ae96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3700" y="2795600"/>
            <a:ext cx="12896850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7" name="Google Shape;367;p25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26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 txBox="1"/>
          <p:nvPr>
            <p:ph type="title"/>
          </p:nvPr>
        </p:nvSpPr>
        <p:spPr>
          <a:xfrm>
            <a:off x="1676400" y="730251"/>
            <a:ext cx="13358037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27"/>
          <p:cNvSpPr txBox="1"/>
          <p:nvPr>
            <p:ph idx="1" type="body"/>
          </p:nvPr>
        </p:nvSpPr>
        <p:spPr>
          <a:xfrm>
            <a:off x="1676400" y="3651250"/>
            <a:ext cx="13358037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/>
          <p:nvPr>
            <p:ph idx="1" type="subTitle"/>
          </p:nvPr>
        </p:nvSpPr>
        <p:spPr>
          <a:xfrm>
            <a:off x="3089501" y="-3577919"/>
            <a:ext cx="14716126" cy="88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s-CO" sz="5400">
                <a:latin typeface="Arial"/>
                <a:ea typeface="Arial"/>
                <a:cs typeface="Arial"/>
                <a:sym typeface="Arial"/>
              </a:rPr>
              <a:t>Educación Ejecutiva</a:t>
            </a:r>
            <a:endParaRPr/>
          </a:p>
        </p:txBody>
      </p:sp>
      <p:sp>
        <p:nvSpPr>
          <p:cNvPr id="415" name="Google Shape;415;p34"/>
          <p:cNvSpPr txBox="1"/>
          <p:nvPr/>
        </p:nvSpPr>
        <p:spPr>
          <a:xfrm>
            <a:off x="1217757" y="-3110140"/>
            <a:ext cx="104029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Arial"/>
              <a:buNone/>
            </a:pPr>
            <a:r>
              <a:rPr b="0" i="1" lang="es-CO" sz="4400" u="none" cap="small" strike="noStrike">
                <a:solidFill>
                  <a:srgbClr val="833C0B"/>
                </a:solidFill>
                <a:latin typeface="Arial"/>
                <a:ea typeface="Arial"/>
                <a:cs typeface="Arial"/>
                <a:sym typeface="Arial"/>
              </a:rPr>
              <a:t>Transforma</a:t>
            </a:r>
            <a:r>
              <a:rPr b="0" i="1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manera como ves el mundo, porque es la clave para cambiarlo.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4"/>
          <p:cNvSpPr txBox="1"/>
          <p:nvPr/>
        </p:nvSpPr>
        <p:spPr>
          <a:xfrm>
            <a:off x="1217757" y="1595657"/>
            <a:ext cx="9792867" cy="1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1" i="0" lang="es-CO" sz="96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1661312" y="2900757"/>
            <a:ext cx="951584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ato"/>
              <a:buNone/>
            </a:pPr>
            <a:r>
              <a:rPr b="1" i="1" lang="es-CO" sz="4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Aprendiendo juntos a lo largo de la 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2104867" y="5086350"/>
            <a:ext cx="1295558" cy="1000125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"/>
          <p:cNvSpPr txBox="1"/>
          <p:nvPr/>
        </p:nvSpPr>
        <p:spPr>
          <a:xfrm>
            <a:off x="0" y="1972749"/>
            <a:ext cx="24344812" cy="1422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r>
              <a:rPr b="1" i="0" lang="es-CO" sz="10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5"/>
          <p:cNvSpPr txBox="1"/>
          <p:nvPr/>
        </p:nvSpPr>
        <p:spPr>
          <a:xfrm>
            <a:off x="39188" y="3671888"/>
            <a:ext cx="24344812" cy="755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B4CB"/>
              </a:buClr>
              <a:buSzPts val="5400"/>
              <a:buFont typeface="Arial"/>
              <a:buNone/>
            </a:pPr>
            <a:r>
              <a:rPr b="1" i="1" lang="es-CO" sz="5400" u="none" cap="none" strike="noStrike">
                <a:solidFill>
                  <a:srgbClr val="08B4CB"/>
                </a:solidFill>
                <a:latin typeface="Lato"/>
                <a:ea typeface="Lato"/>
                <a:cs typeface="Lato"/>
                <a:sym typeface="Lato"/>
              </a:rPr>
              <a:t>Aprendiendo juntos a lo largo de la 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C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EDC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EDCO">
  <a:themeElements>
    <a:clrScheme name="Personalizados 1">
      <a:dk1>
        <a:srgbClr val="000000"/>
      </a:dk1>
      <a:lt1>
        <a:srgbClr val="FFFFFF"/>
      </a:lt1>
      <a:dk2>
        <a:srgbClr val="FCDF00"/>
      </a:dk2>
      <a:lt2>
        <a:srgbClr val="FEFFFE"/>
      </a:lt2>
      <a:accent1>
        <a:srgbClr val="08B4CB"/>
      </a:accent1>
      <a:accent2>
        <a:srgbClr val="FED300"/>
      </a:accent2>
      <a:accent3>
        <a:srgbClr val="D5D5D5"/>
      </a:accent3>
      <a:accent4>
        <a:srgbClr val="755C3A"/>
      </a:accent4>
      <a:accent5>
        <a:srgbClr val="69C8E1"/>
      </a:accent5>
      <a:accent6>
        <a:srgbClr val="FAE75E"/>
      </a:accent6>
      <a:hlink>
        <a:srgbClr val="0CB3CC"/>
      </a:hlink>
      <a:folHlink>
        <a:srgbClr val="0B96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2019-09-16T13:50:46Z</dcterms:created>
  <dc:creator>Maria Monica Prada Ojeda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0x0101007AF031E0BC2AD748B8051164B4CCE6BE</vt:lpwstr>
  </property>
</Properties>
</file>